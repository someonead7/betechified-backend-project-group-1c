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</p:sldMasterIdLst>
  <p:sldIdLst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539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4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69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69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86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92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60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00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18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60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079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92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225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6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036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1589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553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605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3391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9975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0838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9621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5742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3165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652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452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2012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5987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3173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6067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8292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1423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5367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1224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4904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8035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0230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6362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9197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42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601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803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1732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830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640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89344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840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135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3429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5997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9483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1492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3483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8306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37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7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359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18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9/29/2026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208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696640"/>
            <a:ext cx="762000" cy="76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215384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 dirty="0">
                <a:solidFill>
                  <a:srgbClr val="93C5FD"/>
                </a:solidFill>
              </a:rPr>
              <a:t>PRESENTATION BY GROUP 1C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01515"/>
            <a:ext cx="9101137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5940"/>
              </a:lnSpc>
            </a:pPr>
            <a:r>
              <a:rPr sz="5400" b="1" dirty="0">
                <a:solidFill>
                  <a:srgbClr val="FFFFFF"/>
                </a:solidFill>
              </a:rPr>
              <a:t>Task Manager API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414837"/>
            <a:ext cx="676275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2940"/>
              </a:lnSpc>
            </a:pPr>
            <a:r>
              <a:rPr sz="2100" dirty="0">
                <a:solidFill>
                  <a:srgbClr val="94A3B8"/>
                </a:solidFill>
              </a:rPr>
              <a:t>System architecture, middleware validation rules, and RESTful endpoint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246487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743075"/>
            <a:ext cx="5486400" cy="4505325"/>
          </a:xfrm>
          <a:prstGeom prst="roundRect">
            <a:avLst>
              <a:gd name="adj" fmla="val 253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838325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3381375"/>
            <a:ext cx="2571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4924425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3000" b="1">
                <a:solidFill>
                  <a:srgbClr val="0F172A"/>
                </a:solidFill>
              </a:rPr>
              <a:t>System Architecture &amp; Data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4612"/>
            <a:ext cx="6096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200" b="1">
                <a:solidFill>
                  <a:srgbClr val="94A3B8"/>
                </a:solidFill>
              </a:rPr>
              <a:t>IN-MEMORY STORE (VOLATILE)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38462"/>
            <a:ext cx="4972050" cy="2438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2400"/>
              </a:lnSpc>
            </a:pPr>
            <a:r>
              <a:rPr sz="1500">
                <a:solidFill>
                  <a:srgbClr val="E2E8F0"/>
                </a:solidFill>
              </a:rPr>
              <a:t>let tasks = [ { id: 1, title: "Study biology", desc: "Read DNA", status: "pending" } ];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819275"/>
            <a:ext cx="5105400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200"/>
            <a:r>
              <a:rPr b="1">
                <a:solidFill>
                  <a:srgbClr val="0F172A"/>
                </a:solidFill>
              </a:rPr>
              <a:t>Express.js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200275"/>
            <a:ext cx="49720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2250"/>
              </a:lnSpc>
            </a:pPr>
            <a:r>
              <a:rPr sz="1500">
                <a:solidFill>
                  <a:srgbClr val="475569"/>
                </a:solidFill>
              </a:rPr>
              <a:t>Utilizes Express framework operating on Port 4000. Incorporates built-in JSON payload processing via `express.json()`.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5175" y="3362325"/>
            <a:ext cx="5076825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200"/>
            <a:r>
              <a:rPr b="1">
                <a:solidFill>
                  <a:srgbClr val="0F172A"/>
                </a:solidFill>
              </a:rPr>
              <a:t>Makeshift Array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3743325"/>
            <a:ext cx="49720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2250"/>
              </a:lnSpc>
            </a:pPr>
            <a:r>
              <a:rPr sz="1500">
                <a:solidFill>
                  <a:srgbClr val="475569"/>
                </a:solidFill>
              </a:rPr>
              <a:t>Relies on a JavaScript array as a makeshift database. This storage is completely volatile, meaning all records are permanently lost when the server restarts.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4905375"/>
            <a:ext cx="5133975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457200"/>
            <a:r>
              <a:rPr b="1">
                <a:solidFill>
                  <a:srgbClr val="0F172A"/>
                </a:solidFill>
              </a:rPr>
              <a:t>Schema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5286375"/>
            <a:ext cx="5486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0F172A"/>
                </a:solidFill>
              </a:rPr>
              <a:t>id:</a:t>
            </a:r>
            <a:r>
              <a:rPr sz="1500">
                <a:solidFill>
                  <a:srgbClr val="475569"/>
                </a:solidFill>
              </a:rPr>
              <a:t> Auto-incrementing integer.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5581650"/>
            <a:ext cx="5486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0F172A"/>
                </a:solidFill>
              </a:rPr>
              <a:t>title &amp; desc (description):</a:t>
            </a:r>
            <a:r>
              <a:rPr sz="1500">
                <a:solidFill>
                  <a:srgbClr val="475569"/>
                </a:solidFill>
              </a:rPr>
              <a:t> Required string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5876925"/>
            <a:ext cx="5486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0F172A"/>
                </a:solidFill>
              </a:rPr>
              <a:t>status:</a:t>
            </a:r>
            <a:r>
              <a:rPr sz="1500">
                <a:solidFill>
                  <a:srgbClr val="475569"/>
                </a:solidFill>
              </a:rPr>
              <a:t> Strict enum ("pending" or "completed").</a:t>
            </a:r>
          </a:p>
        </p:txBody>
      </p:sp>
    </p:spTree>
    <p:extLst>
      <p:ext uri="{BB962C8B-B14F-4D97-AF65-F5344CB8AC3E}">
        <p14:creationId xmlns:p14="http://schemas.microsoft.com/office/powerpoint/2010/main" val="332940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743075"/>
            <a:ext cx="3454449" cy="4505325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68849" y="1743075"/>
            <a:ext cx="3454449" cy="4505325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128099" y="1743075"/>
            <a:ext cx="3454449" cy="4505325"/>
          </a:xfrm>
          <a:prstGeom prst="roundRect">
            <a:avLst>
              <a:gd name="adj" fmla="val 3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0574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20574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24" y="20574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37" y="2171700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7474" y="217170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724" y="217170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3148012"/>
            <a:ext cx="1047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3662362"/>
            <a:ext cx="1047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3976687"/>
            <a:ext cx="11430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" y="4491037"/>
            <a:ext cx="13335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3174" y="3148012"/>
            <a:ext cx="11430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3174" y="3662362"/>
            <a:ext cx="13335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3174" y="4176712"/>
            <a:ext cx="13335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2424" y="3148012"/>
            <a:ext cx="13335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42424" y="3662362"/>
            <a:ext cx="13335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42424" y="4176712"/>
            <a:ext cx="171450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3000" b="1">
                <a:solidFill>
                  <a:srgbClr val="0F172A"/>
                </a:solidFill>
              </a:rPr>
              <a:t>Middleware &amp; Data Integrity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2743200"/>
            <a:ext cx="370886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0F172A"/>
                </a:solidFill>
              </a:rPr>
              <a:t>validateCreateTask()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3174" y="2743200"/>
            <a:ext cx="370886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0F172A"/>
                </a:solidFill>
              </a:rPr>
              <a:t>validateUpdateTask()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2424" y="2743200"/>
            <a:ext cx="370886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0F172A"/>
                </a:solidFill>
              </a:rPr>
              <a:t>errorHandler()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114675"/>
            <a:ext cx="270197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475569"/>
                </a:solidFill>
              </a:rPr>
              <a:t>Rejects requests missing title or description.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629025"/>
            <a:ext cx="33131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475569"/>
                </a:solidFill>
              </a:rPr>
              <a:t>Rejects missing status fields.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3943350"/>
            <a:ext cx="2692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475569"/>
                </a:solidFill>
              </a:rPr>
              <a:t>Converts valid status input to lowercase.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1575" y="4457700"/>
            <a:ext cx="2673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475569"/>
                </a:solidFill>
              </a:rPr>
              <a:t>Returns 400 Bad Request on failure.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1774" y="3114675"/>
            <a:ext cx="2692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475569"/>
                </a:solidFill>
              </a:rPr>
              <a:t>Permits partial payload updates (optional fields).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0824" y="3629025"/>
            <a:ext cx="2673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475569"/>
                </a:solidFill>
              </a:rPr>
              <a:t>Executes validation only if status field is present.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0824" y="4143375"/>
            <a:ext cx="2673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475569"/>
                </a:solidFill>
              </a:rPr>
              <a:t>Returns 400 Bad Request for invalid strings.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0074" y="3114675"/>
            <a:ext cx="2673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475569"/>
                </a:solidFill>
              </a:rPr>
              <a:t>Global catch-all for unhandled exceptions.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90074" y="3629025"/>
            <a:ext cx="26733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475569"/>
                </a:solidFill>
              </a:rPr>
              <a:t>Returns 500 Internal Server Error status.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8174" y="4143375"/>
            <a:ext cx="26352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475569"/>
                </a:solidFill>
              </a:rPr>
              <a:t>Standardizes error response format across app.</a:t>
            </a:r>
          </a:p>
        </p:txBody>
      </p:sp>
    </p:spTree>
    <p:extLst>
      <p:ext uri="{BB962C8B-B14F-4D97-AF65-F5344CB8AC3E}">
        <p14:creationId xmlns:p14="http://schemas.microsoft.com/office/powerpoint/2010/main" val="448501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67100" y="1743075"/>
            <a:ext cx="8115300" cy="904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67100" y="3028950"/>
            <a:ext cx="8115300" cy="904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67100" y="4314825"/>
            <a:ext cx="8115300" cy="904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9600" y="1743075"/>
            <a:ext cx="1047750" cy="314325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67100" y="1743075"/>
            <a:ext cx="19050" cy="904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600" y="3028950"/>
            <a:ext cx="1047750" cy="314325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67100" y="3028950"/>
            <a:ext cx="19050" cy="904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9600" y="4314825"/>
            <a:ext cx="1047750" cy="314325"/>
          </a:xfrm>
          <a:prstGeom prst="roundRect">
            <a:avLst>
              <a:gd name="adj" fmla="val 1818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67100" y="4314825"/>
            <a:ext cx="19050" cy="904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905250" y="2419350"/>
            <a:ext cx="611981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905250" y="3705225"/>
            <a:ext cx="611981" cy="228600"/>
          </a:xfrm>
          <a:prstGeom prst="roundRect">
            <a:avLst>
              <a:gd name="adj" fmla="val 1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73947" y="3705225"/>
            <a:ext cx="1078557" cy="228600"/>
          </a:xfrm>
          <a:prstGeom prst="roundRect">
            <a:avLst>
              <a:gd name="adj" fmla="val 1666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905250" y="4991100"/>
            <a:ext cx="908595" cy="22860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70561" y="4991100"/>
            <a:ext cx="1227087" cy="228600"/>
          </a:xfrm>
          <a:prstGeom prst="roundRect">
            <a:avLst>
              <a:gd name="adj" fmla="val 1666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3000" b="1">
                <a:solidFill>
                  <a:srgbClr val="0F172A"/>
                </a:solidFill>
              </a:rPr>
              <a:t>Core Endpoints: Read &amp; Create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1800225"/>
            <a:ext cx="11049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457200"/>
            <a:r>
              <a:rPr sz="1350" b="1">
                <a:solidFill>
                  <a:srgbClr val="1D4ED8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2171700"/>
            <a:ext cx="3571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0F172A"/>
                </a:solidFill>
              </a:rPr>
              <a:t>/api/tasks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0950" y="1743075"/>
            <a:ext cx="84010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650" b="1">
                <a:solidFill>
                  <a:srgbClr val="334155"/>
                </a:solidFill>
              </a:rPr>
              <a:t>Retrieve Entire 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0950" y="2105025"/>
            <a:ext cx="84010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64748B"/>
                </a:solidFill>
              </a:rPr>
              <a:t>Fetches the complete in-memory array of task objects.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0950" y="2419350"/>
            <a:ext cx="7886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200" b="1">
                <a:solidFill>
                  <a:srgbClr val="0F172A"/>
                </a:solidFill>
              </a:rPr>
              <a:t>Returns JSON array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3086100"/>
            <a:ext cx="11049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457200"/>
            <a:r>
              <a:rPr sz="1350" b="1">
                <a:solidFill>
                  <a:srgbClr val="1D4ED8"/>
                </a:solidFill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3457575"/>
            <a:ext cx="3571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0F172A"/>
                </a:solidFill>
              </a:rPr>
              <a:t>/api/tasks/:id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0950" y="3028950"/>
            <a:ext cx="84010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650" b="1">
                <a:solidFill>
                  <a:srgbClr val="334155"/>
                </a:solidFill>
              </a:rPr>
              <a:t>Retrieve Specific 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0950" y="3390900"/>
            <a:ext cx="84010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64748B"/>
                </a:solidFill>
              </a:rPr>
              <a:t>Parses ID parameter to integer. Iterates array to locate matching task.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025" y="4371975"/>
            <a:ext cx="11049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457200"/>
            <a:r>
              <a:rPr sz="1350" b="1">
                <a:solidFill>
                  <a:srgbClr val="15803D"/>
                </a:solidFill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743450"/>
            <a:ext cx="3571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0F172A"/>
                </a:solidFill>
              </a:rPr>
              <a:t>/api/tasks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0950" y="4314825"/>
            <a:ext cx="84010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650" b="1">
                <a:solidFill>
                  <a:srgbClr val="334155"/>
                </a:solidFill>
              </a:rPr>
              <a:t>Initialize New 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0950" y="4676775"/>
            <a:ext cx="84010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350">
                <a:solidFill>
                  <a:srgbClr val="64748B"/>
                </a:solidFill>
              </a:rPr>
              <a:t>Assigns sequential ID based on array length. Pushes validated payload into memory.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1450" y="2457450"/>
            <a:ext cx="55483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475569"/>
                </a:solidFill>
              </a:rPr>
              <a:t>200 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1450" y="3743325"/>
            <a:ext cx="55483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475569"/>
                </a:solidFill>
              </a:rPr>
              <a:t>200 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0147" y="3743325"/>
            <a:ext cx="102140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B91C1C"/>
                </a:solidFill>
              </a:rPr>
              <a:t>404 Not Found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1450" y="5029200"/>
            <a:ext cx="85144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15803D"/>
                </a:solidFill>
              </a:rPr>
              <a:t>201 Created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6761" y="5029200"/>
            <a:ext cx="11699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B91C1C"/>
                </a:solidFill>
              </a:rPr>
              <a:t>400 Bad Request</a:t>
            </a:r>
          </a:p>
        </p:txBody>
      </p:sp>
    </p:spTree>
    <p:extLst>
      <p:ext uri="{BB962C8B-B14F-4D97-AF65-F5344CB8AC3E}">
        <p14:creationId xmlns:p14="http://schemas.microsoft.com/office/powerpoint/2010/main" val="125905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66825"/>
            <a:ext cx="109728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881187"/>
            <a:ext cx="10972800" cy="1885950"/>
          </a:xfrm>
          <a:prstGeom prst="roundRect">
            <a:avLst>
              <a:gd name="adj" fmla="val 606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4224337"/>
            <a:ext cx="10972800" cy="1885950"/>
          </a:xfrm>
          <a:prstGeom prst="roundRect">
            <a:avLst>
              <a:gd name="adj" fmla="val 606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71900" y="2185987"/>
            <a:ext cx="750570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71900" y="4529137"/>
            <a:ext cx="750570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2185987"/>
            <a:ext cx="1047750" cy="314325"/>
          </a:xfrm>
          <a:prstGeom prst="roundRect">
            <a:avLst>
              <a:gd name="adj" fmla="val 18181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71900" y="2185987"/>
            <a:ext cx="19050" cy="12763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4529137"/>
            <a:ext cx="1047750" cy="314325"/>
          </a:xfrm>
          <a:prstGeom prst="roundRect">
            <a:avLst>
              <a:gd name="adj" fmla="val 1818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71900" y="4529137"/>
            <a:ext cx="19050" cy="12763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697265" y="2576512"/>
            <a:ext cx="2344191" cy="228600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10050" y="3233737"/>
            <a:ext cx="611981" cy="228600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978747" y="3233737"/>
            <a:ext cx="1227087" cy="228600"/>
          </a:xfrm>
          <a:prstGeom prst="roundRect">
            <a:avLst>
              <a:gd name="adj" fmla="val 16666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62551" y="3233737"/>
            <a:ext cx="1078557" cy="228600"/>
          </a:xfrm>
          <a:prstGeom prst="roundRect">
            <a:avLst>
              <a:gd name="adj" fmla="val 16666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10050" y="5576887"/>
            <a:ext cx="1130498" cy="228600"/>
          </a:xfrm>
          <a:prstGeom prst="roundRect">
            <a:avLst>
              <a:gd name="adj" fmla="val 16666"/>
            </a:avLst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97264" y="5576887"/>
            <a:ext cx="1078557" cy="228600"/>
          </a:xfrm>
          <a:prstGeom prst="roundRect">
            <a:avLst>
              <a:gd name="adj" fmla="val 16666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3000" b="1">
                <a:solidFill>
                  <a:srgbClr val="F8FAFC"/>
                </a:solidFill>
              </a:rPr>
              <a:t>Core Endpoints: Modification &amp; Deletion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243137"/>
            <a:ext cx="11049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457200"/>
            <a:r>
              <a:rPr sz="1350" b="1">
                <a:solidFill>
                  <a:srgbClr val="A16207"/>
                </a:solidFill>
              </a:rPr>
              <a:t>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614612"/>
            <a:ext cx="3571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F8FAFC"/>
                </a:solidFill>
              </a:rPr>
              <a:t>/api/tasks/:id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5750" y="2185987"/>
            <a:ext cx="80962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b="1">
                <a:solidFill>
                  <a:srgbClr val="E2E8F0"/>
                </a:solidFill>
              </a:rPr>
              <a:t>Targeted Data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5750" y="2566987"/>
            <a:ext cx="7277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2025"/>
              </a:lnSpc>
            </a:pPr>
            <a:r>
              <a:rPr sz="1350">
                <a:solidFill>
                  <a:srgbClr val="94A3B8"/>
                </a:solidFill>
              </a:rPr>
              <a:t>Locates target record by ID. Uses to mutate object properties dynamically while preserving unmodified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586287"/>
            <a:ext cx="11049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457200"/>
            <a:r>
              <a:rPr sz="1350" b="1">
                <a:solidFill>
                  <a:srgbClr val="B91C1C"/>
                </a:solidFill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57762"/>
            <a:ext cx="3571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F8FAFC"/>
                </a:solidFill>
              </a:rPr>
              <a:t>/api/tasks/:id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5750" y="4529137"/>
            <a:ext cx="80962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b="1">
                <a:solidFill>
                  <a:srgbClr val="E2E8F0"/>
                </a:solidFill>
              </a:rPr>
              <a:t>Destructive Record Removal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5750" y="4910137"/>
            <a:ext cx="7277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2025"/>
              </a:lnSpc>
            </a:pPr>
            <a:r>
              <a:rPr sz="1350">
                <a:solidFill>
                  <a:srgbClr val="94A3B8"/>
                </a:solidFill>
              </a:rPr>
              <a:t>Captures initial array length. Filters out the specified ID. If array length remains unchanged, triggers error response.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4415" y="2595562"/>
            <a:ext cx="281593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>
              <a:lnSpc>
                <a:spcPts val="2025"/>
              </a:lnSpc>
            </a:pPr>
            <a:r>
              <a:rPr sz="1350">
                <a:solidFill>
                  <a:srgbClr val="CBD5E1"/>
                </a:solidFill>
              </a:rPr>
              <a:t>Object.assign(task, req.body)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6250" y="3271837"/>
            <a:ext cx="55483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F8FAFC"/>
                </a:solidFill>
              </a:rPr>
              <a:t>200 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4947" y="3271837"/>
            <a:ext cx="11699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FCA5A5"/>
                </a:solidFill>
              </a:rPr>
              <a:t>400 Bad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8751" y="3271837"/>
            <a:ext cx="102140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FCA5A5"/>
                </a:solidFill>
              </a:rPr>
              <a:t>404 Not Found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6250" y="5614987"/>
            <a:ext cx="107334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BBF7D0"/>
                </a:solidFill>
              </a:rPr>
              <a:t>204 No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3464" y="5614987"/>
            <a:ext cx="102140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050" b="1">
                <a:solidFill>
                  <a:srgbClr val="FCA5A5"/>
                </a:solidFill>
              </a:rPr>
              <a:t>404 Not Found</a:t>
            </a:r>
          </a:p>
        </p:txBody>
      </p:sp>
    </p:spTree>
    <p:extLst>
      <p:ext uri="{BB962C8B-B14F-4D97-AF65-F5344CB8AC3E}">
        <p14:creationId xmlns:p14="http://schemas.microsoft.com/office/powerpoint/2010/main" val="9143665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372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1_Office Theme</vt:lpstr>
      <vt:lpstr>2_Office Theme</vt:lpstr>
      <vt:lpstr>3_Office Theme</vt:lpstr>
      <vt:lpstr>4_Office Theme</vt:lpstr>
      <vt:lpstr>5_Office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</cp:revision>
  <dcterms:created xsi:type="dcterms:W3CDTF">2026-09-29T23:29:16Z</dcterms:created>
  <dcterms:modified xsi:type="dcterms:W3CDTF">2026-09-29T23:30:55Z</dcterms:modified>
</cp:coreProperties>
</file>